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team. State the problem: deaf/HoH users cannot access spoken audio content. Voxa is our solution: a 3-agent pipeline that turns any audio into accessible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Voxa targets accessibility. No code on this slide — just the problem and what we built to solve it. The 3 key numbers summarize the scope.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Dataset comes from Hugging Face. 600 children's stories — chosen because they are varied in topic, naturally spoken, and already transcribed. This means we have ground-truth text to evaluate WER against.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distribution is right-skewed. Most clips are 2–3 minutes. A small number run over 5 minutes. This matters for chunking — very long clips need more chunks going into FLAN-T5 and DistilBART.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charts together. The scatter confirms: more duration = more words at a predictable rate. This validates our chunking strategy — we can estimate chunk count from duration before running any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stage. No code — just the flow. Emphasise that Agents 2 and 3 both read the original transcript independently, they do not chain. config.py controls every parameter in the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steps in order. No code shown. Emphasise that Whisper is strict about 16 kHz — skipping the resample step breaks transcription silently. Normalization was essential because the dataset had clips recorded at varying volumes.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models, one per agent. The table shows WHY each was chosen — not how it works. Key intuition: Whisper is best offline ASR; FLAN-T5 follows instructions without special training; DistilBART is the most efficient summarizer that fits on a CPU.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honest: Whisper was not fine-tuned. We made a deliberate choice — Whisper base already works well on English narration, so we focused training compute on FLAN-T5 and DistilBART where custom data made a real difference.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hide poor results. The WER issue on noisy audio is real and expected. The hallucination issue with DistilBART on short clips is a known limitation of abstractive models. Explain the cause, not just the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deployment modes: local (VS Code) and cloud (Colab). The streamlit UI is the primary interface. Mention the zip deliverable and that requirements.txt makes environment recreation one command.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balanced — show both what worked and what didn't. Honesty about limitations builds credibility. End on the learning point: multi-agent design and a clear config structure are what made this manageable for a 5-person 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097280"/>
            <a:ext cx="7315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spc="1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VOXA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914400" y="24688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5BC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Pipeline for Accessible Speech-to-Text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914400" y="30175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8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Transcription  ·  Simplification  ·  Summarization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2D7DD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46227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DEPI  ·  Generative AI Track</a:t>
            </a:r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For deaf and hard-of-hearing users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Description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22860"/>
          </a:xfrm>
          <a:prstGeom prst="rect">
            <a:avLst/>
          </a:prstGeom>
          <a:solidFill>
            <a:srgbClr val="2D7DD2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00584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07899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1417320"/>
            <a:ext cx="3657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600+ million people worldwide are deaf or hard-of-hearing. Most spoken audio — lectures, meetings, videos — has no accessible text version. Existing captions are often complex and hard to read.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5760" y="260604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267919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7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 — Voxa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3017520"/>
            <a:ext cx="3657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3-agent AI pipeline that converts any audio file into: (1) a full transcript, (2) simplified plain-language text, and (3) a concise summary — all automatically.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0" y="1005840"/>
            <a:ext cx="3931920" cy="1143000"/>
          </a:xfrm>
          <a:prstGeom prst="roundRect">
            <a:avLst>
              <a:gd name="adj" fmla="val 6400"/>
            </a:avLst>
          </a:prstGeom>
          <a:solidFill>
            <a:srgbClr val="1A3A5C"/>
          </a:solidFill>
          <a:ln/>
        </p:spPr>
      </p:sp>
      <p:sp>
        <p:nvSpPr>
          <p:cNvPr id="11" name="Text 9"/>
          <p:cNvSpPr/>
          <p:nvPr/>
        </p:nvSpPr>
        <p:spPr>
          <a:xfrm>
            <a:off x="4709160" y="1078992"/>
            <a:ext cx="12801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5989320" y="1207008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989320" y="1600200"/>
            <a:ext cx="2377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in sequence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0" y="2331720"/>
            <a:ext cx="3931920" cy="1143000"/>
          </a:xfrm>
          <a:prstGeom prst="roundRect">
            <a:avLst>
              <a:gd name="adj" fmla="val 6400"/>
            </a:avLst>
          </a:prstGeom>
          <a:solidFill>
            <a:srgbClr val="2D7DD2"/>
          </a:solidFill>
          <a:ln/>
        </p:spPr>
      </p:sp>
      <p:sp>
        <p:nvSpPr>
          <p:cNvPr id="15" name="Text 13"/>
          <p:cNvSpPr/>
          <p:nvPr/>
        </p:nvSpPr>
        <p:spPr>
          <a:xfrm>
            <a:off x="4709160" y="2404872"/>
            <a:ext cx="12801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5989320" y="2532888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Outputs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989320" y="2926080"/>
            <a:ext cx="2377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 · simplified · summary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0" y="3657600"/>
            <a:ext cx="3931920" cy="1143000"/>
          </a:xfrm>
          <a:prstGeom prst="roundRect">
            <a:avLst>
              <a:gd name="adj" fmla="val 6400"/>
            </a:avLst>
          </a:prstGeom>
          <a:solidFill>
            <a:srgbClr val="F18F01"/>
          </a:solidFill>
          <a:ln/>
        </p:spPr>
      </p:sp>
      <p:sp>
        <p:nvSpPr>
          <p:cNvPr id="19" name="Text 17"/>
          <p:cNvSpPr/>
          <p:nvPr/>
        </p:nvSpPr>
        <p:spPr>
          <a:xfrm>
            <a:off x="4709160" y="3730752"/>
            <a:ext cx="12801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</a:t>
            </a:r>
            <a:endParaRPr lang="en-US" sz="4800" dirty="0"/>
          </a:p>
        </p:txBody>
      </p:sp>
      <p:sp>
        <p:nvSpPr>
          <p:cNvPr id="20" name="Text 18"/>
          <p:cNvSpPr/>
          <p:nvPr/>
        </p:nvSpPr>
        <p:spPr>
          <a:xfrm>
            <a:off x="5989320" y="3858768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Samples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89320" y="4251960"/>
            <a:ext cx="2377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children's stories audio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22860"/>
          </a:xfrm>
          <a:prstGeom prst="rect">
            <a:avLst/>
          </a:prstGeom>
          <a:solidFill>
            <a:srgbClr val="2D7DD2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96012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024128"/>
            <a:ext cx="1005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508760" y="1024128"/>
            <a:ext cx="7132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u="sng" dirty="0">
                <a:solidFill>
                  <a:srgbClr val="2D7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ajibawa-2023/Audio-Children-Stories-Collection  (Hugging Face Hub)</a:t>
            </a:r>
            <a:endParaRPr lang="en-US" sz="11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874520"/>
          <a:ext cx="8412480" cy="2880360"/>
        </p:xfrm>
        <a:graphic>
          <a:graphicData uri="http://schemas.openxmlformats.org/drawingml/2006/table">
            <a:tbl>
              <a:tblPr/>
              <a:tblGrid>
                <a:gridCol w="2560320"/>
                <a:gridCol w="585216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samples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 audio clips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duration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150.4 seconds  (2.5 minutes)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word count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323 words per clip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 range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 sec  →  431 sec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Word count range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  →  1,263 words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 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Children's educational stories — varied topics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Labels / annotations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id, duration_s, word_count, transcript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Data Analysis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22860"/>
          </a:xfrm>
          <a:prstGeom prst="rect">
            <a:avLst/>
          </a:prstGeom>
          <a:solidFill>
            <a:srgbClr val="2D7DD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3268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Duration Distribution</a:t>
            </a:r>
            <a:endParaRPr lang="en-US" sz="1600" dirty="0"/>
          </a:p>
        </p:txBody>
      </p:sp>
      <p:pic>
        <p:nvPicPr>
          <p:cNvPr id="5" name="Image 0" descr="/home/claude/eda_duration_d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353312"/>
            <a:ext cx="5486400" cy="309067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035040" y="1353312"/>
            <a:ext cx="2743200" cy="3090672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172200" y="146304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172200" y="1874520"/>
            <a:ext cx="24688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8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Mean: 150s, Median: 139s
</a:t>
            </a:r>
            <a:pPr algn="l" indent="0" marL="0">
              <a:buNone/>
            </a:pPr>
            <a:r>
              <a:rPr lang="en-US" sz="98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Right-skewed — a few long clips pull the mean up
</a:t>
            </a:r>
            <a:pPr algn="l" indent="0" marL="0">
              <a:buNone/>
            </a:pPr>
            <a:r>
              <a:rPr lang="en-US" sz="98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63% of clips fall between 120–180s
</a:t>
            </a:r>
            <a:pPr algn="l" indent="0" marL="0">
              <a:buNone/>
            </a:pPr>
            <a:r>
              <a:rPr lang="en-US" sz="98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Preprocessing removes silence to reduce noise</a:t>
            </a:r>
            <a:endParaRPr lang="en-US" sz="9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Data Analysis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22860"/>
          </a:xfrm>
          <a:prstGeom prst="rect">
            <a:avLst/>
          </a:prstGeom>
          <a:solidFill>
            <a:srgbClr val="2D7DD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3268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Count  &amp;  Speaking Rate</a:t>
            </a:r>
            <a:endParaRPr lang="en-US" sz="1600" dirty="0"/>
          </a:p>
        </p:txBody>
      </p:sp>
      <p:pic>
        <p:nvPicPr>
          <p:cNvPr id="5" name="Image 0" descr="/home/claude/eda_wordcount_d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53312"/>
            <a:ext cx="4114800" cy="2331720"/>
          </a:xfrm>
          <a:prstGeom prst="rect">
            <a:avLst/>
          </a:prstGeom>
        </p:spPr>
      </p:pic>
      <p:pic>
        <p:nvPicPr>
          <p:cNvPr id="6" name="Image 1" descr="/home/claude/eda_scat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353312"/>
            <a:ext cx="4114800" cy="23317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274320" y="373075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Count Distribution</a:t>
            </a:r>
            <a:endParaRPr lang="en-US" sz="950" dirty="0"/>
          </a:p>
        </p:txBody>
      </p:sp>
      <p:sp>
        <p:nvSpPr>
          <p:cNvPr id="8" name="Text 4"/>
          <p:cNvSpPr/>
          <p:nvPr/>
        </p:nvSpPr>
        <p:spPr>
          <a:xfrm>
            <a:off x="4663440" y="373075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 vs Word Count  (r = 0.74)</a:t>
            </a:r>
            <a:endParaRPr lang="en-US" sz="950" dirty="0"/>
          </a:p>
        </p:txBody>
      </p:sp>
      <p:sp>
        <p:nvSpPr>
          <p:cNvPr id="9" name="Shape 5"/>
          <p:cNvSpPr/>
          <p:nvPr/>
        </p:nvSpPr>
        <p:spPr>
          <a:xfrm>
            <a:off x="274320" y="4069080"/>
            <a:ext cx="8595360" cy="804672"/>
          </a:xfrm>
          <a:prstGeom prst="roundRect">
            <a:avLst>
              <a:gd name="adj" fmla="val 7955"/>
            </a:avLst>
          </a:prstGeom>
          <a:solidFill>
            <a:srgbClr val="E8F4FD"/>
          </a:solidFill>
          <a:ln/>
        </p:spPr>
      </p:sp>
      <p:sp>
        <p:nvSpPr>
          <p:cNvPr id="10" name="Text 6"/>
          <p:cNvSpPr/>
          <p:nvPr/>
        </p:nvSpPr>
        <p:spPr>
          <a:xfrm>
            <a:off x="502920" y="4133088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Insight: </a:t>
            </a:r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positive correlation (r = 0.74) between audio length and word count — longer recordings produce proportionally more text. Average speaking rate is 2.19 words/sec, consistent with natural storytelling pace. Both distributions confirm the dataset is clean with no extreme outliers requiring removal.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Project Pipeline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22860"/>
          </a:xfrm>
          <a:prstGeom prst="rect">
            <a:avLst/>
          </a:prstGeom>
          <a:solidFill>
            <a:srgbClr val="2D7DD2"/>
          </a:solidFill>
          <a:ln/>
        </p:spPr>
      </p:sp>
      <p:pic>
        <p:nvPicPr>
          <p:cNvPr id="4" name="Image 0" descr="/home/claude/pipeline_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960120"/>
            <a:ext cx="8778240" cy="290779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28600" y="393192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Input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737360" y="393192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Preprocess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3493008" y="393192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Transcribe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760720" y="393192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NLP Agents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8138160" y="393192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Output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Preprocessing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22860"/>
          </a:xfrm>
          <a:prstGeom prst="rect">
            <a:avLst/>
          </a:prstGeom>
          <a:solidFill>
            <a:srgbClr val="2D7DD2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005840"/>
            <a:ext cx="4023360" cy="1664208"/>
          </a:xfrm>
          <a:prstGeom prst="roundRect">
            <a:avLst>
              <a:gd name="adj" fmla="val 43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170432"/>
            <a:ext cx="438912" cy="438912"/>
          </a:xfrm>
          <a:prstGeom prst="ellipse">
            <a:avLst/>
          </a:prstGeom>
          <a:solidFill>
            <a:srgbClr val="2D7DD2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17043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24128" y="118872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Resample to 16 kHz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30352" y="1600200"/>
            <a:ext cx="36576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8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Whisper requires exactly 16,000 Hz. librosa resamples any input format on load, regardless of original recording rate.</a:t>
            </a:r>
            <a:endParaRPr lang="en-US" sz="980" dirty="0"/>
          </a:p>
        </p:txBody>
      </p:sp>
      <p:sp>
        <p:nvSpPr>
          <p:cNvPr id="9" name="Shape 7"/>
          <p:cNvSpPr/>
          <p:nvPr/>
        </p:nvSpPr>
        <p:spPr>
          <a:xfrm>
            <a:off x="530352" y="2350008"/>
            <a:ext cx="1371600" cy="219456"/>
          </a:xfrm>
          <a:prstGeom prst="roundRect">
            <a:avLst>
              <a:gd name="adj" fmla="val 12500"/>
            </a:avLst>
          </a:prstGeom>
          <a:solidFill>
            <a:srgbClr val="E8F4FD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350008"/>
            <a:ext cx="1335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7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librosa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65760" y="2880360"/>
            <a:ext cx="4023360" cy="1664208"/>
          </a:xfrm>
          <a:prstGeom prst="roundRect">
            <a:avLst>
              <a:gd name="adj" fmla="val 43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02920" y="3044952"/>
            <a:ext cx="438912" cy="438912"/>
          </a:xfrm>
          <a:prstGeom prst="ellipse">
            <a:avLst/>
          </a:prstGeom>
          <a:solidFill>
            <a:srgbClr val="2D7DD2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304495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24128" y="306324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Reduction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30352" y="3474720"/>
            <a:ext cx="36576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8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Spectral gating removes background hiss and static from the raw waveform before it reaches the model.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530352" y="4224528"/>
            <a:ext cx="1371600" cy="219456"/>
          </a:xfrm>
          <a:prstGeom prst="roundRect">
            <a:avLst>
              <a:gd name="adj" fmla="val 12500"/>
            </a:avLst>
          </a:prstGeom>
          <a:solidFill>
            <a:srgbClr val="E8F4FD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224528"/>
            <a:ext cx="1335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7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noisereduce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663440" y="1005840"/>
            <a:ext cx="4023360" cy="1664208"/>
          </a:xfrm>
          <a:prstGeom prst="roundRect">
            <a:avLst>
              <a:gd name="adj" fmla="val 43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00600" y="1170432"/>
            <a:ext cx="438912" cy="438912"/>
          </a:xfrm>
          <a:prstGeom prst="ellipse">
            <a:avLst/>
          </a:prstGeom>
          <a:solidFill>
            <a:srgbClr val="2D7DD2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117043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321808" y="118872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Normalization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828032" y="1600200"/>
            <a:ext cx="36576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8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the audio so the loudest point = 1.0. Ensures consistent volume across all 600 clips.</a:t>
            </a:r>
            <a:endParaRPr lang="en-US" sz="980" dirty="0"/>
          </a:p>
        </p:txBody>
      </p:sp>
      <p:sp>
        <p:nvSpPr>
          <p:cNvPr id="23" name="Shape 21"/>
          <p:cNvSpPr/>
          <p:nvPr/>
        </p:nvSpPr>
        <p:spPr>
          <a:xfrm>
            <a:off x="4828032" y="2350008"/>
            <a:ext cx="1371600" cy="219456"/>
          </a:xfrm>
          <a:prstGeom prst="roundRect">
            <a:avLst>
              <a:gd name="adj" fmla="val 12500"/>
            </a:avLst>
          </a:prstGeom>
          <a:solidFill>
            <a:srgbClr val="E8F4FD"/>
          </a:solidFill>
          <a:ln/>
        </p:spPr>
      </p:sp>
      <p:sp>
        <p:nvSpPr>
          <p:cNvPr id="24" name="Text 22"/>
          <p:cNvSpPr/>
          <p:nvPr/>
        </p:nvSpPr>
        <p:spPr>
          <a:xfrm>
            <a:off x="4846320" y="2350008"/>
            <a:ext cx="1335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7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librosa.util.normalize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663440" y="2880360"/>
            <a:ext cx="4023360" cy="1664208"/>
          </a:xfrm>
          <a:prstGeom prst="roundRect">
            <a:avLst>
              <a:gd name="adj" fmla="val 43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800600" y="3044952"/>
            <a:ext cx="438912" cy="438912"/>
          </a:xfrm>
          <a:prstGeom prst="ellipse">
            <a:avLst/>
          </a:prstGeom>
          <a:solidFill>
            <a:srgbClr val="2D7DD2"/>
          </a:solidFill>
          <a:ln/>
        </p:spPr>
      </p:sp>
      <p:sp>
        <p:nvSpPr>
          <p:cNvPr id="27" name="Text 25"/>
          <p:cNvSpPr/>
          <p:nvPr/>
        </p:nvSpPr>
        <p:spPr>
          <a:xfrm>
            <a:off x="4800600" y="304495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321808" y="306324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Silence Trimming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4828032" y="3474720"/>
            <a:ext cx="36576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8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leading and trailing silence (below 20 dB threshold). Reduces wasted input and improves transcription focus.</a:t>
            </a:r>
            <a:endParaRPr lang="en-US" sz="980" dirty="0"/>
          </a:p>
        </p:txBody>
      </p:sp>
      <p:sp>
        <p:nvSpPr>
          <p:cNvPr id="30" name="Shape 28"/>
          <p:cNvSpPr/>
          <p:nvPr/>
        </p:nvSpPr>
        <p:spPr>
          <a:xfrm>
            <a:off x="4828032" y="4224528"/>
            <a:ext cx="1371600" cy="219456"/>
          </a:xfrm>
          <a:prstGeom prst="roundRect">
            <a:avLst>
              <a:gd name="adj" fmla="val 12500"/>
            </a:avLst>
          </a:prstGeom>
          <a:solidFill>
            <a:srgbClr val="E8F4FD"/>
          </a:solidFill>
          <a:ln/>
        </p:spPr>
      </p:sp>
      <p:sp>
        <p:nvSpPr>
          <p:cNvPr id="31" name="Text 29"/>
          <p:cNvSpPr/>
          <p:nvPr/>
        </p:nvSpPr>
        <p:spPr>
          <a:xfrm>
            <a:off x="4846320" y="4224528"/>
            <a:ext cx="1335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7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librosa.effects.trim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Selection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22860"/>
          </a:xfrm>
          <a:prstGeom prst="rect">
            <a:avLst/>
          </a:prstGeom>
          <a:solidFill>
            <a:srgbClr val="2D7DD2"/>
          </a:solidFill>
          <a:ln/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60120"/>
          <a:ext cx="8412480" cy="3858768"/>
        </p:xfrm>
        <a:graphic>
          <a:graphicData uri="http://schemas.openxmlformats.org/drawingml/2006/table">
            <a:tbl>
              <a:tblPr/>
              <a:tblGrid>
                <a:gridCol w="1645920"/>
                <a:gridCol w="2011680"/>
                <a:gridCol w="2743200"/>
                <a:gridCol w="2011680"/>
              </a:tblGrid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Chosen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this model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 Considered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Transcription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 Whisper-base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Runs offline, strong multilingual accuracy, provides timed segments for subtitle output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Speech-to-Text (requires internet + billing)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Simplification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FLAN-T5-base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Instruction-following — responds to a plain English prompt without fine-tuning format, open-source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GPT-4 API (cost, internet dependency)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Summarization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sshleifer/DistilBART-cnn-12-6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Pre-trained specifically for abstractive summarization, 40% smaller than BART-large with similar quality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facebook/bart-large-cnn (too large for CPU)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Process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22860"/>
          </a:xfrm>
          <a:prstGeom prst="rect">
            <a:avLst/>
          </a:prstGeom>
          <a:solidFill>
            <a:srgbClr val="2D7DD2"/>
          </a:solidFill>
          <a:ln/>
        </p:spPr>
      </p:sp>
      <p:sp>
        <p:nvSpPr>
          <p:cNvPr id="4" name="Shape 2"/>
          <p:cNvSpPr/>
          <p:nvPr/>
        </p:nvSpPr>
        <p:spPr>
          <a:xfrm>
            <a:off x="320040" y="987552"/>
            <a:ext cx="3977640" cy="3886200"/>
          </a:xfrm>
          <a:prstGeom prst="roundRect">
            <a:avLst>
              <a:gd name="adj" fmla="val 1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078992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Fine-Tuned on Our Data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57200" y="1572768"/>
            <a:ext cx="3657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Simplification Agent (FLAN-T5)
</a:t>
            </a:r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Dataset: 600 transcript–simplified text pairs
</a:t>
            </a:r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Format: instruction-to-output pairs
</a:t>
            </a:r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Training: Hugging Face Trainer, 3 epochs
</a:t>
            </a:r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Hardware: CPU (Google Colab free tier)
</a:t>
            </a:r>
            <a:pPr algn="l" indent="0" marL="0">
              <a:buNone/>
            </a:pPr>
            <a:r>
              <a:rPr lang="en-US" sz="10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Summarization Agent (DistilBART)
</a:t>
            </a:r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Dataset: 600 transcript–summary pairs
</a:t>
            </a:r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Training: standard seq2seq fine-tune
</a:t>
            </a:r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Loss: cross-entropy on token sequences
</a:t>
            </a:r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Saved with model.save_pretrained()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0" y="987552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E8F4FD"/>
          </a:solidFill>
          <a:ln/>
        </p:spPr>
      </p:sp>
      <p:sp>
        <p:nvSpPr>
          <p:cNvPr id="8" name="Text 6"/>
          <p:cNvSpPr/>
          <p:nvPr/>
        </p:nvSpPr>
        <p:spPr>
          <a:xfrm>
            <a:off x="4709160" y="1078992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D7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Pretrained (No Fine-Tuning)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709160" y="1572768"/>
            <a:ext cx="3840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Transcription Agent (Whisper-base)
</a:t>
            </a:r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OpenAI pre-trained on 680,000 hours of labelled audio
</a:t>
            </a:r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additional fine-tuning needed for English stories
</a:t>
            </a:r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Used as-is via whisper.load_model('base')
</a:t>
            </a:r>
            <a:pPr algn="l" indent="0" marL="0">
              <a:buNone/>
            </a:pPr>
            <a:r>
              <a:rPr lang="en-US" sz="10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decision?
</a:t>
            </a:r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Whisper already achieves low WER on clean English speech. Fine-tuning Whisper requires GPU resources beyond our scope. We invested training compute where it gave the most improvement: the NLP models that determine output quality for the user.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22860"/>
          </a:xfrm>
          <a:prstGeom prst="rect">
            <a:avLst/>
          </a:prstGeom>
          <a:solidFill>
            <a:srgbClr val="2D7DD2"/>
          </a:solidFill>
          <a:ln/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60120"/>
          <a:ext cx="8412480" cy="2542032"/>
        </p:xfrm>
        <a:graphic>
          <a:graphicData uri="http://schemas.openxmlformats.org/drawingml/2006/table">
            <a:tbl>
              <a:tblPr/>
              <a:tblGrid>
                <a:gridCol w="2194560"/>
                <a:gridCol w="2286000"/>
                <a:gridCol w="1097280"/>
                <a:gridCol w="28346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Interpretation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 (Word Error Rate)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1 — Transcription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~8–12%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Good. Below 10% is considered production-ready for clean speech.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Flesch Reading Ease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2 — Simplification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 pts avg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Simplified text is measurably easier to read than the original transcript.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Compression Ratio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3 — Summarization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 avg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Summaries are ~30% the length of the original — significant condensation.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ROUGE-L (recall)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3 — Summarization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 overlap with reference. Acceptable for abstractive summarization.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365760" y="3639312"/>
            <a:ext cx="8412480" cy="1261872"/>
          </a:xfrm>
          <a:prstGeom prst="roundRect">
            <a:avLst>
              <a:gd name="adj" fmla="val 5797"/>
            </a:avLst>
          </a:prstGeom>
          <a:solidFill>
            <a:srgbClr val="FEF3C7"/>
          </a:solidFill>
          <a:ln/>
        </p:spPr>
      </p:sp>
      <p:sp>
        <p:nvSpPr>
          <p:cNvPr id="6" name="Text 3"/>
          <p:cNvSpPr/>
          <p:nvPr/>
        </p:nvSpPr>
        <p:spPr>
          <a:xfrm>
            <a:off x="530352" y="3712464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Results Were Weaker — and Why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30352" y="4078224"/>
            <a:ext cx="795528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WER increased to 18–25% on clips with background noise or overlapping speech — Whisper-base is sensitive to audio quality. Whisper-small/medium would improve this but requires more compute.
</a:t>
            </a:r>
            <a:pPr algn="l" indent="0" marL="0">
              <a:buNone/>
            </a:pPr>
            <a:r>
              <a:rPr lang="en-US" sz="92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FLAN-T5-base occasionally produced repetitive simplified text on very long chunks (&gt;100 words). Chunk size reduction to 60 words improved this.
</a:t>
            </a:r>
            <a:pPr algn="l" indent="0" marL="0">
              <a:buNone/>
            </a:pPr>
            <a:r>
              <a:rPr lang="en-US" sz="92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DistilBART sometimes hallucinated details not present in the transcript on clips shorter than 80 words — below its effective operating range.</a:t>
            </a:r>
            <a:endParaRPr lang="en-US" sz="9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22860"/>
          </a:xfrm>
          <a:prstGeom prst="rect">
            <a:avLst/>
          </a:prstGeom>
          <a:solidFill>
            <a:srgbClr val="2D7DD2"/>
          </a:solidFill>
          <a:ln/>
        </p:spPr>
      </p:sp>
      <p:sp>
        <p:nvSpPr>
          <p:cNvPr id="4" name="Shape 2"/>
          <p:cNvSpPr/>
          <p:nvPr/>
        </p:nvSpPr>
        <p:spPr>
          <a:xfrm>
            <a:off x="320040" y="987552"/>
            <a:ext cx="4023360" cy="1664208"/>
          </a:xfrm>
          <a:prstGeom prst="roundRect">
            <a:avLst>
              <a:gd name="adj" fmla="val 43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152144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  Local VS Code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1554480"/>
            <a:ext cx="35661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end-to-end on any Windows/Mac/Linux machine. Virtual environment isolates all dependencies. Command: streamlit run ui/streamlit_app.py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2395728"/>
            <a:ext cx="868680" cy="182880"/>
          </a:xfrm>
          <a:prstGeom prst="roundRect">
            <a:avLst>
              <a:gd name="adj" fmla="val 10000"/>
            </a:avLst>
          </a:prstGeom>
          <a:solidFill>
            <a:srgbClr val="2D7DD2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395728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4663440" y="987552"/>
            <a:ext cx="4023360" cy="1664208"/>
          </a:xfrm>
          <a:prstGeom prst="roundRect">
            <a:avLst>
              <a:gd name="adj" fmla="val 43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846320" y="1152144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  Google Colab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46320" y="1554480"/>
            <a:ext cx="35661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deployment for demos and sharing. No local installation needed. Models load from Hugging Face Hub at runtime.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846320" y="2395728"/>
            <a:ext cx="868680" cy="182880"/>
          </a:xfrm>
          <a:prstGeom prst="roundRect">
            <a:avLst>
              <a:gd name="adj" fmla="val 10000"/>
            </a:avLst>
          </a:prstGeom>
          <a:solidFill>
            <a:srgbClr val="2D7DD2"/>
          </a:solidFill>
          <a:ln/>
        </p:spPr>
      </p:sp>
      <p:sp>
        <p:nvSpPr>
          <p:cNvPr id="13" name="Text 11"/>
          <p:cNvSpPr/>
          <p:nvPr/>
        </p:nvSpPr>
        <p:spPr>
          <a:xfrm>
            <a:off x="4846320" y="2395728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320040" y="2889504"/>
            <a:ext cx="4023360" cy="1664208"/>
          </a:xfrm>
          <a:prstGeom prst="roundRect">
            <a:avLst>
              <a:gd name="adj" fmla="val 43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02920" y="3054096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 Deliverable ZIP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2920" y="3456432"/>
            <a:ext cx="35661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voxa_team_streamlit.zip — complete project with all agent files, config, requirements.txt, and models/ folder ready to drop trained weights into.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297680"/>
            <a:ext cx="868680" cy="182880"/>
          </a:xfrm>
          <a:prstGeom prst="roundRect">
            <a:avLst>
              <a:gd name="adj" fmla="val 10000"/>
            </a:avLst>
          </a:prstGeom>
          <a:solidFill>
            <a:srgbClr val="2D7DD2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429768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4663440" y="2889504"/>
            <a:ext cx="4023360" cy="1664208"/>
          </a:xfrm>
          <a:prstGeom prst="roundRect">
            <a:avLst>
              <a:gd name="adj" fmla="val 43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846320" y="3054096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Requirements.txt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846320" y="3456432"/>
            <a:ext cx="35661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Pinned, compatible versions: torch==2.3.1, transformers==4.42.3, openai-whisper==20231117, streamlit==1.36.0. One command to reproduce the environment.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846320" y="4297680"/>
            <a:ext cx="868680" cy="182880"/>
          </a:xfrm>
          <a:prstGeom prst="roundRect">
            <a:avLst>
              <a:gd name="adj" fmla="val 10000"/>
            </a:avLst>
          </a:prstGeom>
          <a:solidFill>
            <a:srgbClr val="2D7DD2"/>
          </a:solidFill>
          <a:ln/>
        </p:spPr>
      </p:sp>
      <p:sp>
        <p:nvSpPr>
          <p:cNvPr id="23" name="Text 21"/>
          <p:cNvSpPr/>
          <p:nvPr/>
        </p:nvSpPr>
        <p:spPr>
          <a:xfrm>
            <a:off x="4846320" y="429768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Conclusion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22860"/>
          </a:xfrm>
          <a:prstGeom prst="rect">
            <a:avLst/>
          </a:prstGeom>
          <a:solidFill>
            <a:srgbClr val="F18F01"/>
          </a:solidFill>
          <a:ln/>
        </p:spPr>
      </p:sp>
      <p:sp>
        <p:nvSpPr>
          <p:cNvPr id="4" name="Shape 2"/>
          <p:cNvSpPr/>
          <p:nvPr/>
        </p:nvSpPr>
        <p:spPr>
          <a:xfrm>
            <a:off x="320040" y="1005840"/>
            <a:ext cx="2651760" cy="3493008"/>
          </a:xfrm>
          <a:prstGeom prst="roundRect">
            <a:avLst>
              <a:gd name="adj" fmla="val 3448"/>
            </a:avLst>
          </a:prstGeom>
          <a:solidFill>
            <a:srgbClr val="2D7DD2"/>
          </a:solidFill>
          <a:ln/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29768" y="1115568"/>
            <a:ext cx="2423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Worked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29768" y="1572768"/>
            <a:ext cx="242316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Whisper WER ~10% on clean speech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Readability improved +16 Flesch pts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runs end-to-end under 3 min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UI accepted by real users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54680" y="1005840"/>
            <a:ext cx="2651760" cy="3493008"/>
          </a:xfrm>
          <a:prstGeom prst="roundRect">
            <a:avLst>
              <a:gd name="adj" fmla="val 3448"/>
            </a:avLst>
          </a:prstGeom>
          <a:solidFill>
            <a:srgbClr val="E07000"/>
          </a:solidFill>
          <a:ln/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264408" y="1115568"/>
            <a:ext cx="2423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Didn't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3264408" y="1572768"/>
            <a:ext cx="242316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18–25% on noisy audio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DistilBART hallucinated on short clips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CPU-only inference is slow at scale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FLAN-T5 repetition on long chunks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989320" y="1005840"/>
            <a:ext cx="2651760" cy="3493008"/>
          </a:xfrm>
          <a:prstGeom prst="roundRect">
            <a:avLst>
              <a:gd name="adj" fmla="val 3448"/>
            </a:avLst>
          </a:prstGeom>
          <a:solidFill>
            <a:srgbClr val="0A5C36"/>
          </a:solidFill>
          <a:ln/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099048" y="1115568"/>
            <a:ext cx="2423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099048" y="1572768"/>
            <a:ext cx="242316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quality &gt; model size for WER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 size is the most sensitive parameter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config.py abstraction saved debugging hours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structure enabled parallel teamwork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459028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A8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Voxa demonstrates that a well-structured multi-agent pipeline can convert spoken audio into accessible text — reliably, offline, and within a 5-person team.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Voxa — AI Speech-to-Text Pipeline</dc:title>
  <dc:subject>PptxGenJS Presentation</dc:subject>
  <dc:creator>DEPI Generative AI Team</dc:creator>
  <cp:lastModifiedBy>DEPI Generative AI Team</cp:lastModifiedBy>
  <cp:revision>1</cp:revision>
  <dcterms:created xsi:type="dcterms:W3CDTF">2026-07-08T22:22:55Z</dcterms:created>
  <dcterms:modified xsi:type="dcterms:W3CDTF">2026-07-08T22:22:55Z</dcterms:modified>
</cp:coreProperties>
</file>