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9" r:id="rId10"/>
    <p:sldId id="263" r:id="rId11"/>
    <p:sldId id="264" r:id="rId12"/>
    <p:sldId id="265" r:id="rId13"/>
    <p:sldId id="270" r:id="rId14"/>
    <p:sldId id="266" r:id="rId15"/>
    <p:sldId id="267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4480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team. State the problem: deaf/HoH users cannot access spoken audio content. Voxa is our solution: a 3-agent pipeline that turns any audio into accessible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Voxa targets accessibility. No code on this slide — just the problem and what we built to solve it. The 3 key numbers summarize the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 comes from Hugging Face. 600 children's stories — chosen because they are varied in topic, naturally spoken, and already transcribed. This means we have ground-truth text to evaluate WER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distribution is right-skewed. Most clips are 2–3 minutes. A small number run over 5 minutes. This matters for chunking — very long clips need more chunks going into FLAN-T5 and DistilBART.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charts together. The scatter confirms: more duration = more words at a predictable rate. This validates our chunking strategy — we can estimate chunk count from duration before running any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0C0D7-A59A-FB50-44B2-DCD62F1AC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CAF86E-2063-D28D-C5A0-5B47D7EBED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61AB98-6CFE-E66C-7764-324730E772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charts together. The scatter confirms: more duration = more words at a predictable rate. This validates our chunking strategy — we can estimate chunk count from duration before running any model.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EAF57-D4F6-46E6-E193-D93924BD85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6544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stage. No code — just the flow. Emphasise that Agents 2 and 3 both read the original transcript independently, they do not chain. config.py controls every parameter in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steps in order. No code shown. Emphasise that Whisper is strict about 16 kHz — skipping the resample step breaks transcription silently. Normalization was essential because the dataset had clips recorded at varying volumes.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B1345-C0F4-6352-6380-865BE4DF1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E229F-A0CA-8A6C-3F6F-24E32D0A5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941AB-C620-0E99-9946-41F548E087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steps in order. No code shown. Emphasise that Whisper is strict about 16 kHz — skipping the resample step breaks transcription silently. Normalization was essential because the dataset had clips recorded at varying volumes.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F5516-404C-B6FA-9840-89A2967B85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2619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models, one per agent. The table shows WHY each was chosen — not how it works. Key intuition: Whisper is best offline ASR; FLAN-T5 follows instructions without special training; DistilBART is the most efficient summarizer that fits on a CPU.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Whisper was not fine-tuned. We made a deliberate choice — Whisper base already works well on English narration, so we focused training compute on FLAN-T5 and DistilBART where custom data made a real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hide poor results. The WER issue on noisy audio is real and expected. The hallucination issue with DistilBART on short clips is a known limitation of abstractive models. Explain the cause, not just the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0BC75-DDBE-E56C-0AE8-0444130D3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350C48-5BCA-1A05-04DD-09C459E56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83472F-EF9D-F956-3690-6BF72FAD53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hide poor results. The WER issue on noisy audio is real and expected. The hallucination issue with DistilBART on short clips is a known limitation of abstractive models. Explain the cause, not just the number.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90648B-2BD2-6642-FA13-A8DCAB77DE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9626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deployment modes: local (VS Code) and cloud (Colab). The streamlit UI is the primary interface. Mention the zip deliverable and that requirements.txt makes environment recreation one 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balanced — show both what worked and what didn't. Honesty about limitations builds credibility. End on the learning point: multi-agent design and a clear config structure are what made this manageable for a 5-person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kern="0" spc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VOXA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914400" y="2468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for Accessible Speech-to-Text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 ·  Simplification  ·  Summarization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44622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 ·  Generative AI Track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For deaf and hard-of-hearing users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286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600+ million people worldwide are deaf or hard-of-hearing. Most spoken audio — lectures, meetings, videos — has no accessible text version. Existing captions are often complex and hard to read.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260604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6791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Voxa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0175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3-agent AI pipeline that converts any audio file into: (1) a full transcript, (2) simplified plain-language text, and (3) a concise summary — all automatically.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09160" y="1078992"/>
            <a:ext cx="1280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5989320" y="120700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89320" y="1600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in sequence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0" y="233172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9160" y="2404872"/>
            <a:ext cx="1280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5989320" y="253288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89320" y="29260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· simplified · summary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365760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F18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09160" y="3730752"/>
            <a:ext cx="1280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5989320" y="385876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89320" y="425196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children's stories audio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286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08760" y="1024128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u="sng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ajibawa-2023/Audio-Children-Stories-Collection  (Hugging Face Hub)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74520"/>
          <a:ext cx="8412480" cy="28803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samples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 audio clips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duration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150.4 seconds  (2.5 minutes)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word 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323 words per clip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 range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 sec  →  431 sec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 count range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  →  1,263 words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Children's educational stories — varied topics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Labels / annotations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duration_s, word_count, transcript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286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Duration Distribution</a:t>
            </a:r>
            <a:endParaRPr lang="en-US" sz="1600" dirty="0"/>
          </a:p>
        </p:txBody>
      </p:sp>
      <p:pic>
        <p:nvPicPr>
          <p:cNvPr id="5" name="Image 0" descr="/home/claude/eda_duration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53312"/>
            <a:ext cx="5486400" cy="3090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35040" y="1353312"/>
            <a:ext cx="2743200" cy="3090672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172200" y="14630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72200" y="187452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Mean: 150s, Median: 139s
• Right-skewed — a few long clips pull the mean up
• 63% of clips fall between 120–180s
• Preprocessing removes silence to reduce noise</a:t>
            </a:r>
            <a:endParaRPr lang="en-US" sz="9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286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Count  &amp;  Speaking Rate</a:t>
            </a:r>
            <a:endParaRPr lang="en-US" sz="1600" dirty="0"/>
          </a:p>
        </p:txBody>
      </p:sp>
      <p:pic>
        <p:nvPicPr>
          <p:cNvPr id="5" name="Image 0" descr="/home/claude/eda_wordcount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53312"/>
            <a:ext cx="4114800" cy="2331720"/>
          </a:xfrm>
          <a:prstGeom prst="rect">
            <a:avLst/>
          </a:prstGeom>
        </p:spPr>
      </p:pic>
      <p:pic>
        <p:nvPicPr>
          <p:cNvPr id="6" name="Image 1" descr="/home/claude/eda_sca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353312"/>
            <a:ext cx="4114800" cy="2331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373075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Count Distribution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4663440" y="373075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vs Word Count  (r = 0.74)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274320" y="4069080"/>
            <a:ext cx="8595360" cy="804672"/>
          </a:xfrm>
          <a:prstGeom prst="roundRect">
            <a:avLst>
              <a:gd name="adj" fmla="val 7955"/>
            </a:avLst>
          </a:prstGeom>
          <a:solidFill>
            <a:srgbClr val="E8F4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02920" y="41330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 correlation (r = 0.74) between audio length and word count — longer recordings produce proportionally more text. Average speaking rate is 2.19 words/sec, consistent with natural storytelling pace. Both distributions confirm the dataset is clean with no extreme outliers requiring removal.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C30082-34EF-3631-85D1-6F7845C38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A50BFBD-0F76-D2D2-C994-BADFCD9DB14F}"/>
              </a:ext>
            </a:extLst>
          </p:cNvPr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D47102-3998-B18C-4A9B-D40F24B95463}"/>
              </a:ext>
            </a:extLst>
          </p:cNvPr>
          <p:cNvSpPr/>
          <p:nvPr/>
        </p:nvSpPr>
        <p:spPr>
          <a:xfrm>
            <a:off x="457200" y="841248"/>
            <a:ext cx="8229600" cy="2286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1221C3FB-1CE5-C47E-BEA3-0273210239DF}"/>
              </a:ext>
            </a:extLst>
          </p:cNvPr>
          <p:cNvSpPr/>
          <p:nvPr/>
        </p:nvSpPr>
        <p:spPr>
          <a:xfrm>
            <a:off x="720720" y="370789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Category </a:t>
            </a:r>
            <a:r>
              <a:rPr lang="en-US" sz="9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</a:t>
            </a:r>
            <a:endParaRPr lang="en-US" sz="9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6C2B6551-6E19-DCD4-7F1A-E53901B6EA5C}"/>
              </a:ext>
            </a:extLst>
          </p:cNvPr>
          <p:cNvSpPr/>
          <p:nvPr/>
        </p:nvSpPr>
        <p:spPr>
          <a:xfrm>
            <a:off x="4514400" y="373903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Duration </a:t>
            </a:r>
            <a:r>
              <a:rPr lang="en-US" sz="9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</a:t>
            </a:r>
            <a:endParaRPr lang="en-US" sz="95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360DDD32-55F6-A0F2-1AD0-0716017359F0}"/>
              </a:ext>
            </a:extLst>
          </p:cNvPr>
          <p:cNvSpPr/>
          <p:nvPr/>
        </p:nvSpPr>
        <p:spPr>
          <a:xfrm>
            <a:off x="274320" y="4069080"/>
            <a:ext cx="8595360" cy="804672"/>
          </a:xfrm>
          <a:prstGeom prst="roundRect">
            <a:avLst>
              <a:gd name="adj" fmla="val 7955"/>
            </a:avLst>
          </a:prstGeom>
          <a:solidFill>
            <a:srgbClr val="E8F4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6E1581C-7A0D-CD9A-3ABC-282B094EE86F}"/>
              </a:ext>
            </a:extLst>
          </p:cNvPr>
          <p:cNvSpPr/>
          <p:nvPr/>
        </p:nvSpPr>
        <p:spPr>
          <a:xfrm>
            <a:off x="502920" y="41330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1000" dirty="0"/>
              <a:t>An overwhelming 98.2% of the audio clips fall between 1 and 5 minutes, tightly clustering around a 140-second median. Clips exceeding 5 minutes are rare edge cases, making up only 1.8% of the dataset. This high uniformity guarantees stable, predictable processing times for your pipeline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A368C0-BADE-FCC1-FE70-5AD387D53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025" y="1071563"/>
            <a:ext cx="6762750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246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Project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286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pipelin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60120"/>
            <a:ext cx="8778240" cy="29077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39319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Input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737360" y="39319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Preprocess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493008" y="39319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Transcribe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760720" y="39319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NLP Agents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138160" y="39319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Output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286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438912" cy="438912"/>
          </a:xfrm>
          <a:prstGeom prst="ellipse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11887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to 16 kHz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30352" y="1600200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requires exactly 16,000 Hz. librosa resamples any input format on load, regardless of original recording rate.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530352" y="2350008"/>
            <a:ext cx="1371600" cy="219456"/>
          </a:xfrm>
          <a:prstGeom prst="roundRect">
            <a:avLst>
              <a:gd name="adj" fmla="val 12500"/>
            </a:avLst>
          </a:prstGeom>
          <a:solidFill>
            <a:srgbClr val="E8F4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350008"/>
            <a:ext cx="1335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402336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3044952"/>
            <a:ext cx="438912" cy="438912"/>
          </a:xfrm>
          <a:prstGeom prst="ellipse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0449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30632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Reduction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30352" y="3474720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gating removes background hiss and static from the raw waveform before it reaches the model.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530352" y="4224528"/>
            <a:ext cx="1371600" cy="219456"/>
          </a:xfrm>
          <a:prstGeom prst="roundRect">
            <a:avLst>
              <a:gd name="adj" fmla="val 12500"/>
            </a:avLst>
          </a:prstGeom>
          <a:solidFill>
            <a:srgbClr val="E8F4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4224528"/>
            <a:ext cx="1335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noisereduce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402336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00600" y="1170432"/>
            <a:ext cx="438912" cy="438912"/>
          </a:xfrm>
          <a:prstGeom prst="ellipse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11704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21808" y="11887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Normalization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28032" y="1600200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the audio so the loudest point = 1.0. Ensures consistent volume across all 600 clips.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4828032" y="2350008"/>
            <a:ext cx="1371600" cy="219456"/>
          </a:xfrm>
          <a:prstGeom prst="roundRect">
            <a:avLst>
              <a:gd name="adj" fmla="val 12500"/>
            </a:avLst>
          </a:prstGeom>
          <a:solidFill>
            <a:srgbClr val="E8F4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0" y="2350008"/>
            <a:ext cx="1335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librosa.util.normalize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63440" y="2880360"/>
            <a:ext cx="402336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00600" y="3044952"/>
            <a:ext cx="438912" cy="438912"/>
          </a:xfrm>
          <a:prstGeom prst="ellipse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0600" y="30449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21808" y="30632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Trimming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828032" y="3474720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leading and trailing silence (below 20 dB threshold). Reduces wasted input and improves transcription focus.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4828032" y="4224528"/>
            <a:ext cx="1371600" cy="219456"/>
          </a:xfrm>
          <a:prstGeom prst="roundRect">
            <a:avLst>
              <a:gd name="adj" fmla="val 12500"/>
            </a:avLst>
          </a:prstGeom>
          <a:solidFill>
            <a:srgbClr val="E8F4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4224528"/>
            <a:ext cx="1335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librosa.effects.trim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3D3CFD-7550-F166-EE4C-D507FB1B6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87C83B8-CBA0-7409-C65E-EA1AE5D30F6A}"/>
              </a:ext>
            </a:extLst>
          </p:cNvPr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Preprocessing</a:t>
            </a:r>
            <a:endParaRPr lang="en-US" sz="3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2A36164-F803-DC93-AEEB-68077B44ADF7}"/>
              </a:ext>
            </a:extLst>
          </p:cNvPr>
          <p:cNvSpPr/>
          <p:nvPr/>
        </p:nvSpPr>
        <p:spPr>
          <a:xfrm>
            <a:off x="457200" y="841248"/>
            <a:ext cx="8229600" cy="2286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5E75F9F8-C96A-D789-8914-F14365789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916" y="852678"/>
            <a:ext cx="6694167" cy="427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600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286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2918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Chosen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this model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 Considered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Transcription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Whisper-base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offline, strong multilingual accuracy, provides timed segments for subtitle output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Speech-to-Text (requires internet + billing)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Simplification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FLAN-T5-base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Instruction-following — responds to a plain English prompt without fine-tuning format, open-source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 API (cost, internet dependency)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Summarization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sshleifer/DistilBART-cnn-12-6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Pre-trained specifically for abstractive summarization, 40% smaller than BART-large with similar quality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facebook/bart-large-cnn (too large for CPU)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Process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286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397764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Our Data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Simplification Agent (FLAN-T5)
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Dataset: 600 transcript–simplified text pairs
• Format: instruction-to-output pairs
• Training: Hugging Face Trainer, 3 epochs
• Hardware: CPU (Google Colab free tier)
</a:t>
            </a: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 Agent (DistilBART)
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Dataset: 600 transcript–summary pairs
• Training: standard seq2seq fine-tune
• Loss: cross-entropy on token sequences
• Saved with model.save_pretrained()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987552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E8F4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09160" y="107899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Pretrained (No Fine-Tuning)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09160" y="1572768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Agent (Whisper-base)
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OpenAI pre-trained on 680,000 hours of labelled audio
• No additional fine-tuning needed for English stories
• Used as-is via whisper.load_model('base')
</a:t>
            </a: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decision?
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already achieves low WER on clean English speech. Fine-tuning Whisper requires GPU resources beyond our scope. We invested training compute where it gave the most improvement: the NLP models that determine output quality for the user.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286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25146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 (Word Error Rate)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1 — Transcription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~8–12%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Good. Below 10% is considered production-ready for clean speech.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Flesch Reading Ease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2 — Simplification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 pts avg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Simplified text is measurably easier to read than the original transcript.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Compression Ratio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3 — Summarization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 avg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Summaries are ~30% the length of the original — significant condensation.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ROUGE-L (recall)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3 — Summarization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overlap with reference. Acceptable for abstractive summarization.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639312"/>
            <a:ext cx="8412480" cy="1261872"/>
          </a:xfrm>
          <a:prstGeom prst="roundRect">
            <a:avLst>
              <a:gd name="adj" fmla="val 5797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30352" y="3712464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Results Were Weaker — and Why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30352" y="4078224"/>
            <a:ext cx="79552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2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WER increased to 18–25% on clips with background noise or overlapping speech — Whisper-base is sensitive to audio quality. Whisper-small/medium would improve this but requires more compute.
• FLAN-T5-base occasionally produced repetitive simplified text on very long chunks (&gt;100 words). Chunk size reduction to 60 words improved this.
• DistilBART sometimes hallucinated details not present in the transcript on clips shorter than 80 words — below its effective operating range.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18E6B3-89C9-C831-1587-D690A9590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7BCC9A7-7270-0181-E101-911BAF4CC499}"/>
              </a:ext>
            </a:extLst>
          </p:cNvPr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Comparison</a:t>
            </a:r>
            <a:endParaRPr lang="en-US" sz="3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D010047-0411-0086-8771-100CB0E3641E}"/>
              </a:ext>
            </a:extLst>
          </p:cNvPr>
          <p:cNvSpPr/>
          <p:nvPr/>
        </p:nvSpPr>
        <p:spPr>
          <a:xfrm>
            <a:off x="457200" y="841248"/>
            <a:ext cx="8229600" cy="2286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531C5D-98BE-5D62-4F1F-2EAFA1756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56" y="910078"/>
            <a:ext cx="7872488" cy="3890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787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2860"/>
          </a:xfrm>
          <a:prstGeom prst="rect">
            <a:avLst/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402336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Local VS Code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end-to-end on any Windows/Mac/Linux machine. Virtual environment isolates all dependencies. Command: streamlit run ui/streamlit_app.py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2395728"/>
            <a:ext cx="868680" cy="182880"/>
          </a:xfrm>
          <a:prstGeom prst="roundRect">
            <a:avLst>
              <a:gd name="adj" fmla="val 10000"/>
            </a:avLst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395728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663440" y="987552"/>
            <a:ext cx="402336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115214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Google Colab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554480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for demos and sharing. No local installation needed. Models load from Hugging Face Hub at runtime.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2395728"/>
            <a:ext cx="868680" cy="182880"/>
          </a:xfrm>
          <a:prstGeom prst="roundRect">
            <a:avLst>
              <a:gd name="adj" fmla="val 10000"/>
            </a:avLst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2395728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20040" y="2889504"/>
            <a:ext cx="402336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05409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</a:t>
            </a:r>
            <a:r>
              <a:rPr lang="en-US" sz="1300" b="1" dirty="0" err="1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456432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project uploaded to </a:t>
            </a:r>
            <a:r>
              <a:rPr lang="en-US" sz="9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repo with all agent files, config, requirements.txt, and models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4297680"/>
            <a:ext cx="868680" cy="182880"/>
          </a:xfrm>
          <a:prstGeom prst="roundRect">
            <a:avLst>
              <a:gd name="adj" fmla="val 10000"/>
            </a:avLst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429768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663440" y="2889504"/>
            <a:ext cx="402336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305409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Requirements.txt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456432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Pinned, compatible versions: torch==2.3.1, transformers==4.42.3, openai-whisper==20231117, streamlit==1.36.0. One command to reproduce the environment.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4297680"/>
            <a:ext cx="868680" cy="182880"/>
          </a:xfrm>
          <a:prstGeom prst="roundRect">
            <a:avLst>
              <a:gd name="adj" fmla="val 10000"/>
            </a:avLst>
          </a:prstGeom>
          <a:solidFill>
            <a:srgbClr val="2D7D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429768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286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51760" cy="3493008"/>
          </a:xfrm>
          <a:prstGeom prst="roundRect">
            <a:avLst>
              <a:gd name="adj" fmla="val 3448"/>
            </a:avLst>
          </a:prstGeom>
          <a:solidFill>
            <a:srgbClr val="2D7DD2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29768" y="111556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29768" y="1572768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WER ~10% on clean speech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 improved +16 Flesch pts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runs end-to-end under 3 min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accepted by real users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54680" y="1005840"/>
            <a:ext cx="2651760" cy="3493008"/>
          </a:xfrm>
          <a:prstGeom prst="roundRect">
            <a:avLst>
              <a:gd name="adj" fmla="val 3448"/>
            </a:avLst>
          </a:prstGeom>
          <a:solidFill>
            <a:srgbClr val="E07000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64408" y="111556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Didn't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64408" y="1572768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18–25% on noisy audio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DistilBART hallucinated on short clips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 inference is slow at scale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 repetition on long chunks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89320" y="1005840"/>
            <a:ext cx="2651760" cy="3493008"/>
          </a:xfrm>
          <a:prstGeom prst="roundRect">
            <a:avLst>
              <a:gd name="adj" fmla="val 3448"/>
            </a:avLst>
          </a:prstGeom>
          <a:solidFill>
            <a:srgbClr val="0A5C36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99048" y="111556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099048" y="1572768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quality &gt; model size for WER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 is the most sensitive parameter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config.py abstraction saved debugging hours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structure enabled parallel teamwork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5902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Voxa demonstrates that a well-structured multi-agent pipeline can convert spoken audio into accessible text — reliably, offline, and within a 5-person team.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1756</Words>
  <Application>Microsoft Office PowerPoint</Application>
  <PresentationFormat>On-screen Show (16:9)</PresentationFormat>
  <Paragraphs>182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Voxa — AI Speech-to-Text Pipeline</dc:title>
  <dc:subject>PptxGenJS Presentation</dc:subject>
  <dc:creator>DEPI Generative AI Team</dc:creator>
  <cp:lastModifiedBy>adham ehab</cp:lastModifiedBy>
  <cp:revision>2</cp:revision>
  <dcterms:created xsi:type="dcterms:W3CDTF">2026-07-08T22:22:55Z</dcterms:created>
  <dcterms:modified xsi:type="dcterms:W3CDTF">2026-07-09T16:03:54Z</dcterms:modified>
</cp:coreProperties>
</file>